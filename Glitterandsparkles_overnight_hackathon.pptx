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C7D8887C-7EF0-4836-BEBD-6849D3724569}" type="datetimeFigureOut">
              <a:rPr lang="en-IN" smtClean="0"/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D1EED570-12FC-41A8-A6BD-EC279C6036D6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62CF-6AAB-41E5-9F59-5F9821C23A0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0723-934B-4C5C-8E11-E1A0D01FA80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6D70-AEA4-4737-B110-42188A0D273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FAF-C2C2-4F1D-A9E2-FBD526C52A9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17F2-7850-43DB-87C4-6B69E3351041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25A6-829B-458F-BE3C-BFBBE8285B5F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6450E-2391-48A4-94F5-674C0D15D9A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ACD5-39B7-4B68-9759-FD02D7A8C9D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984C-E423-4DD4-8F10-D1B767775CC5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7743-250E-476C-AEB6-30ABC12C94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F9301-C3DC-4859-A0E7-08AD7EBFEC0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B1FAF43-094C-4256-886E-2CC6F495415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/>
              <a:t>8th Mile X Overnight Hackathon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9E7A7228-CC1B-43A0-B0BD-71BB82C556D5}" type="slidenum">
              <a:rPr lang="en-IN" smtClean="0"/>
            </a:fld>
            <a:endParaRPr lang="en-IN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51050"/>
            <a:ext cx="9144000" cy="171323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Glitter and Sparkles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98265"/>
            <a:ext cx="9144000" cy="18059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Vishnukeerthy R(Team lead)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Vedika Lakshmisha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Abhinav Trivedi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0" y="32457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7" y="310556"/>
            <a:ext cx="2305893" cy="990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7908" y="417905"/>
            <a:ext cx="547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ED00"/>
                </a:solidFill>
                <a:latin typeface="Berlin Sans FB Demi" panose="020E0802020502020306" pitchFamily="34" charset="0"/>
              </a:rPr>
              <a:t>Overnight Hackathon</a:t>
            </a:r>
            <a:endParaRPr lang="en-IN" sz="4000" dirty="0">
              <a:solidFill>
                <a:srgbClr val="FFED0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026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217663" y="182181"/>
            <a:ext cx="1611544" cy="133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8th Mile X Overnight Hackathon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45" y="182181"/>
            <a:ext cx="1119019" cy="1119019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0947002" y="310556"/>
            <a:ext cx="0" cy="92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7205345" y="4099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Problem Statement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Online exams need to stay fair, but </a:t>
            </a:r>
            <a:r>
              <a:rPr lang="en-US" altLang="en-US" b="1"/>
              <a:t>video proctoring is intrusive and uncomfortable. </a:t>
            </a:r>
            <a:endParaRPr lang="en-US" altLang="en-US" b="1"/>
          </a:p>
          <a:p>
            <a:r>
              <a:rPr lang="en-US" altLang="en-US"/>
              <a:t>A system is required that protects exam integrity using </a:t>
            </a:r>
            <a:r>
              <a:rPr lang="en-US" altLang="en-US" b="1"/>
              <a:t>non-intrusive behaviour data</a:t>
            </a:r>
            <a:r>
              <a:rPr lang="en-US" altLang="en-US"/>
              <a:t>—like </a:t>
            </a:r>
            <a:r>
              <a:rPr lang="en-US" altLang="en-US" b="1"/>
              <a:t>mouse moves, typing patterns, and tab switching</a:t>
            </a:r>
            <a:r>
              <a:rPr lang="en-US" altLang="en-US"/>
              <a:t>—to spot suspicious actions.</a:t>
            </a:r>
            <a:endParaRPr lang="en-US" altLang="en-US"/>
          </a:p>
          <a:p>
            <a:r>
              <a:rPr lang="en-US" altLang="en-US"/>
              <a:t> It should give each student a </a:t>
            </a:r>
            <a:r>
              <a:rPr lang="en-US" altLang="en-US" b="1"/>
              <a:t>real-time risk score</a:t>
            </a:r>
            <a:r>
              <a:rPr lang="en-US" altLang="en-US"/>
              <a:t> and react automatically when something looks unusual, all while </a:t>
            </a:r>
            <a:r>
              <a:rPr lang="en-US" altLang="en-US" b="1"/>
              <a:t>keeping privacy and scalability in mind.</a:t>
            </a:r>
            <a:endParaRPr lang="en-US" altLang="en-US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6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Proposed Solution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669155"/>
          </a:xfrm>
        </p:spPr>
        <p:txBody>
          <a:bodyPr>
            <a:noAutofit/>
          </a:bodyPr>
          <a:lstStyle/>
          <a:p>
            <a:r>
              <a:rPr lang="en-US" altLang="en-US" sz="2700"/>
              <a:t> A </a:t>
            </a:r>
            <a:r>
              <a:rPr lang="en-US" altLang="en-US" sz="2700" b="1"/>
              <a:t>non-intrusive behavioral analytics system</a:t>
            </a:r>
            <a:r>
              <a:rPr lang="en-US" altLang="en-US" sz="2700"/>
              <a:t> to monitor online assessments and generates </a:t>
            </a:r>
            <a:r>
              <a:rPr lang="en-US" altLang="en-US" sz="2700" b="1"/>
              <a:t>behavior scores.</a:t>
            </a:r>
            <a:endParaRPr lang="en-US" altLang="en-US" sz="2700"/>
          </a:p>
          <a:p>
            <a:r>
              <a:rPr lang="en-US" altLang="en-US" sz="2700"/>
              <a:t>The system analyses </a:t>
            </a:r>
            <a:r>
              <a:rPr lang="en-US" altLang="en-US" sz="2700" b="1"/>
              <a:t>mouse movements</a:t>
            </a:r>
            <a:r>
              <a:rPr lang="en-US" altLang="en-US" sz="2700"/>
              <a:t>, </a:t>
            </a:r>
            <a:r>
              <a:rPr lang="en-US" altLang="en-US" sz="2700" b="1"/>
              <a:t>keystrokes</a:t>
            </a:r>
            <a:r>
              <a:rPr lang="en-US" altLang="en-US" sz="2700"/>
              <a:t>, </a:t>
            </a:r>
            <a:r>
              <a:rPr lang="en-US" altLang="en-US" sz="2700" b="1"/>
              <a:t>typing patterns</a:t>
            </a:r>
            <a:r>
              <a:rPr lang="en-US" altLang="en-US" sz="2700"/>
              <a:t>, </a:t>
            </a:r>
            <a:r>
              <a:rPr lang="en-US" altLang="en-US" sz="2700" b="1"/>
              <a:t>tab switching</a:t>
            </a:r>
            <a:r>
              <a:rPr lang="en-US" altLang="en-US" sz="2700"/>
              <a:t>, </a:t>
            </a:r>
            <a:r>
              <a:rPr lang="en-US" altLang="en-US" sz="2700" b="1"/>
              <a:t>copy-paste activity</a:t>
            </a:r>
            <a:r>
              <a:rPr lang="en-IN" altLang="en-US" sz="2700" b="1"/>
              <a:t>.</a:t>
            </a:r>
            <a:endParaRPr lang="en-US" altLang="en-US" sz="2700" b="1"/>
          </a:p>
          <a:p>
            <a:r>
              <a:rPr lang="en-US" altLang="en-US" sz="2700">
                <a:sym typeface="+mn-ea"/>
              </a:rPr>
              <a:t>The system is trained to spot when a student acts very differently from what’s expected such as --- </a:t>
            </a:r>
            <a:r>
              <a:rPr lang="en-US" altLang="en-US" sz="2700" b="1">
                <a:sym typeface="+mn-ea"/>
              </a:rPr>
              <a:t>sudden drops in performance, inconsistent attendance, irregular submission patterns, deviations from the student’s historical behavior.</a:t>
            </a:r>
            <a:endParaRPr lang="en-US" altLang="en-US" sz="2700" b="1"/>
          </a:p>
          <a:p>
            <a:r>
              <a:rPr lang="en-US" altLang="en-US" sz="2700">
                <a:sym typeface="+mn-ea"/>
              </a:rPr>
              <a:t>A simple </a:t>
            </a:r>
            <a:r>
              <a:rPr lang="en-US" altLang="en-US" sz="2700" b="1">
                <a:sym typeface="+mn-ea"/>
              </a:rPr>
              <a:t>dashboard </a:t>
            </a:r>
            <a:r>
              <a:rPr lang="en-US" altLang="en-US" sz="2700">
                <a:sym typeface="+mn-ea"/>
              </a:rPr>
              <a:t>displays student’s </a:t>
            </a:r>
            <a:r>
              <a:rPr lang="en-US" altLang="en-US" sz="2700" b="1">
                <a:sym typeface="+mn-ea"/>
              </a:rPr>
              <a:t>behavioral scores, activity logs, alerts for anomalies </a:t>
            </a:r>
            <a:r>
              <a:rPr lang="en-US" altLang="en-US" sz="2700">
                <a:sym typeface="+mn-ea"/>
              </a:rPr>
              <a:t>ensuring</a:t>
            </a:r>
            <a:r>
              <a:rPr lang="en-US" altLang="en-US" sz="2700" b="1">
                <a:sym typeface="+mn-ea"/>
              </a:rPr>
              <a:t> privacy compliance</a:t>
            </a:r>
            <a:r>
              <a:rPr lang="en-US" altLang="en-US" sz="2700">
                <a:sym typeface="+mn-ea"/>
              </a:rPr>
              <a:t>,</a:t>
            </a:r>
            <a:r>
              <a:rPr lang="en-US" altLang="en-US" sz="2700" b="1">
                <a:sym typeface="+mn-ea"/>
              </a:rPr>
              <a:t> fairness</a:t>
            </a:r>
            <a:r>
              <a:rPr lang="en-US" altLang="en-US" sz="2700">
                <a:sym typeface="+mn-ea"/>
              </a:rPr>
              <a:t>, and </a:t>
            </a:r>
            <a:r>
              <a:rPr lang="en-US" altLang="en-US" sz="2700" b="1">
                <a:sym typeface="+mn-ea"/>
              </a:rPr>
              <a:t>scalability.</a:t>
            </a:r>
            <a:endParaRPr lang="en-US" altLang="en-US" sz="2700"/>
          </a:p>
          <a:p>
            <a:endParaRPr lang="en-US" altLang="en-US" sz="2700" b="1"/>
          </a:p>
          <a:p>
            <a:endParaRPr lang="en-US" altLang="en-US" sz="27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62335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40412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40412"/>
            <a:ext cx="898996" cy="89899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205791" y="255536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520" y="25654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Key Features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6584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81024" y="134661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34661"/>
            <a:ext cx="898996" cy="89899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205791" y="249785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38"/>
          <p:cNvSpPr/>
          <p:nvPr>
            <p:ph idx="1"/>
            <p:custDataLst>
              <p:tags r:id="rId4"/>
            </p:custDataLst>
          </p:nvPr>
        </p:nvSpPr>
        <p:spPr>
          <a:xfrm>
            <a:off x="838200" y="1582420"/>
            <a:ext cx="10515600" cy="4594860"/>
          </a:xfrm>
        </p:spPr>
        <p:txBody>
          <a:bodyPr>
            <a:noAutofit/>
          </a:bodyPr>
          <a:p>
            <a:r>
              <a:rPr lang="en-US" altLang="en-US">
                <a:cs typeface="Times New Roman" panose="02020603050405020304" pitchFamily="18" charset="0"/>
              </a:rPr>
              <a:t>Behavioral scoring engine</a:t>
            </a:r>
            <a:r>
              <a:rPr lang="en-IN" altLang="en-US">
                <a:cs typeface="Times New Roman" panose="02020603050405020304" pitchFamily="18" charset="0"/>
              </a:rPr>
              <a:t>--</a:t>
            </a:r>
            <a:r>
              <a:rPr lang="en-US" altLang="en-US">
                <a:cs typeface="Times New Roman" panose="02020603050405020304" pitchFamily="18" charset="0"/>
                <a:sym typeface="+mn-ea"/>
              </a:rPr>
              <a:t>Keystroke Dynamics</a:t>
            </a:r>
            <a:r>
              <a:rPr lang="en-IN" altLang="en-US"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en-US">
                <a:cs typeface="Times New Roman" panose="02020603050405020304" pitchFamily="18" charset="0"/>
                <a:sym typeface="+mn-ea"/>
              </a:rPr>
              <a:t>Mouse Movement Tracking</a:t>
            </a:r>
            <a:r>
              <a:rPr lang="en-IN" altLang="en-US"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en-US">
                <a:cs typeface="Times New Roman" panose="02020603050405020304" pitchFamily="18" charset="0"/>
                <a:sym typeface="+mn-ea"/>
              </a:rPr>
              <a:t>Time Spent per Question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Activity tracking &amp; visualization</a:t>
            </a:r>
            <a:r>
              <a:rPr lang="en-IN" altLang="en-US">
                <a:cs typeface="Times New Roman" panose="02020603050405020304" pitchFamily="18" charset="0"/>
              </a:rPr>
              <a:t>--</a:t>
            </a:r>
            <a:r>
              <a:rPr lang="en-US" altLang="en-US">
                <a:cs typeface="Times New Roman" panose="02020603050405020304" pitchFamily="18" charset="0"/>
              </a:rPr>
              <a:t>Tab Switching Detection</a:t>
            </a:r>
            <a:r>
              <a:rPr lang="en-IN" altLang="en-US">
                <a:cs typeface="Times New Roman" panose="02020603050405020304" pitchFamily="18" charset="0"/>
              </a:rPr>
              <a:t>, </a:t>
            </a:r>
            <a:r>
              <a:rPr lang="en-US" altLang="en-US">
                <a:cs typeface="Times New Roman" panose="02020603050405020304" pitchFamily="18" charset="0"/>
              </a:rPr>
              <a:t>Copy-Paste Detection</a:t>
            </a:r>
            <a:r>
              <a:rPr lang="en-IN" altLang="en-US">
                <a:cs typeface="Times New Roman" panose="02020603050405020304" pitchFamily="18" charset="0"/>
              </a:rPr>
              <a:t>, </a:t>
            </a:r>
            <a:r>
              <a:rPr lang="en-US" altLang="en-US">
                <a:cs typeface="Times New Roman" panose="02020603050405020304" pitchFamily="18" charset="0"/>
              </a:rPr>
              <a:t>Split Screen Monitoring Detection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Anomaly detection alerts</a:t>
            </a:r>
            <a:r>
              <a:rPr lang="en-IN" altLang="en-US">
                <a:cs typeface="Times New Roman" panose="02020603050405020304" pitchFamily="18" charset="0"/>
              </a:rPr>
              <a:t>--Multiple Desktop Detection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Fast Flask backend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JSON-based lightweight storage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Modular architecture</a:t>
            </a:r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Designed specifically for educational settings</a:t>
            </a:r>
            <a:endParaRPr lang="en-US" altLang="en-US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System Architecture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Alternate Process 4"/>
          <p:cNvSpPr/>
          <p:nvPr/>
        </p:nvSpPr>
        <p:spPr>
          <a:xfrm>
            <a:off x="4784090" y="1621155"/>
            <a:ext cx="2656205" cy="1002665"/>
          </a:xfrm>
          <a:prstGeom prst="flowChartAlternateProcess">
            <a:avLst/>
          </a:prstGeom>
          <a:noFill/>
          <a:ln>
            <a:solidFill>
              <a:srgbClr val="FFED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(HTML/CSS/JavaScript)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118860" y="2623820"/>
            <a:ext cx="0" cy="54356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Flowchart: Alternate Process 10"/>
          <p:cNvSpPr/>
          <p:nvPr/>
        </p:nvSpPr>
        <p:spPr>
          <a:xfrm>
            <a:off x="4784090" y="3166745"/>
            <a:ext cx="2656840" cy="1109345"/>
          </a:xfrm>
          <a:prstGeom prst="flowChartAlternate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API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-Handles scoring logic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-Reads/writes behavior data from JSON file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106795" y="4276090"/>
            <a:ext cx="12065" cy="61214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Flowchart: Alternate Process 14"/>
          <p:cNvSpPr/>
          <p:nvPr/>
        </p:nvSpPr>
        <p:spPr>
          <a:xfrm>
            <a:off x="4784090" y="4888230"/>
            <a:ext cx="2655570" cy="1205230"/>
          </a:xfrm>
          <a:prstGeom prst="flowChartAlternateProcess">
            <a:avLst/>
          </a:prstGeom>
          <a:noFill/>
          <a:ln>
            <a:solidFill>
              <a:srgbClr val="FFED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behavioral_data.json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-Activity logs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-Score history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-Anamoly thresholds</a:t>
            </a:r>
            <a:endParaRPr lang="en-US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Tech Stack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4060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812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</a:tr>
              <a:tr h="812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Python,Flask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</a:tr>
              <a:tr h="812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HTML,JavaScript,CSS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</a:tr>
              <a:tr h="812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  <a:endParaRPr 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JSON-based local database </a:t>
                      </a:r>
                      <a:endParaRPr lang="en-US" alt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</a:tr>
              <a:tr h="812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en-US" alt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Localhost / Python server </a:t>
                      </a:r>
                      <a:endParaRPr lang="en-US" altLang="en-US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Challenges Faced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Privacy concerns with behavioral tracking.</a:t>
            </a:r>
            <a:endParaRPr lang="en-US" altLang="en-US"/>
          </a:p>
          <a:p>
            <a:r>
              <a:rPr lang="en-US" altLang="en-US"/>
              <a:t>False positives due to legitimate behavior.</a:t>
            </a:r>
            <a:endParaRPr lang="en-US" altLang="en-US"/>
          </a:p>
          <a:p>
            <a:r>
              <a:rPr lang="en-US" altLang="en-US"/>
              <a:t>Scalability for large online exams.</a:t>
            </a:r>
            <a:endParaRPr lang="en-US" altLang="en-US"/>
          </a:p>
          <a:p>
            <a:r>
              <a:rPr lang="en-US" altLang="en-US"/>
              <a:t>Learning Mangement System (LMS) integration complexity.</a:t>
            </a:r>
            <a:endParaRPr lang="en-US" altLang="en-US"/>
          </a:p>
          <a:p>
            <a:r>
              <a:rPr lang="en-US" altLang="en-US"/>
              <a:t>Student acceptance and transparency.</a:t>
            </a:r>
            <a:endParaRPr lang="en-US" altLang="en-US"/>
          </a:p>
          <a:p>
            <a:r>
              <a:rPr lang="en-US" altLang="en-US"/>
              <a:t>Maintaining high detection accuracy.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Future Scope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IN" dirty="0"/>
              <a:t>Machine Learning-based anamoly detection</a:t>
            </a:r>
            <a:endParaRPr lang="en-US" altLang="en-IN" dirty="0"/>
          </a:p>
          <a:p>
            <a:r>
              <a:rPr lang="en-US" altLang="en-IN" dirty="0"/>
              <a:t>Advanced score visualisation dashboards</a:t>
            </a:r>
            <a:endParaRPr lang="en-US" altLang="en-IN" dirty="0"/>
          </a:p>
          <a:p>
            <a:r>
              <a:rPr lang="en-US" altLang="en-IN" dirty="0"/>
              <a:t>Multi-student comparison analytics</a:t>
            </a:r>
            <a:endParaRPr lang="en-US" altLang="en-IN" dirty="0"/>
          </a:p>
          <a:p>
            <a:r>
              <a:rPr lang="en-US" altLang="en-IN" dirty="0"/>
              <a:t>Migration to a real database (PostgreSQL/MongoDB)</a:t>
            </a:r>
            <a:endParaRPr lang="en-US" altLang="en-IN" dirty="0"/>
          </a:p>
          <a:p>
            <a:r>
              <a:rPr lang="en-US" altLang="en-IN" dirty="0"/>
              <a:t>Login system with roles (student/mentor/admin)</a:t>
            </a:r>
            <a:endParaRPr lang="en-US" altLang="en-IN" dirty="0"/>
          </a:p>
          <a:p>
            <a:r>
              <a:rPr lang="en-US" altLang="en-IN" dirty="0"/>
              <a:t>Mobile-friendly UI/ Progressive Web App</a:t>
            </a:r>
            <a:endParaRPr lang="en-US" altLang="en-IN" dirty="0"/>
          </a:p>
          <a:p>
            <a:r>
              <a:rPr lang="en-US" altLang="en-IN" dirty="0"/>
              <a:t>Automated notifications for flagged behavior</a:t>
            </a:r>
            <a:endParaRPr lang="en-US" alt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000" dirty="0">
                <a:solidFill>
                  <a:srgbClr val="FFFF00"/>
                </a:solidFill>
                <a:latin typeface="Berlin Sans FB Demi" panose="020E0802020502020306" pitchFamily="34" charset="0"/>
              </a:rPr>
              <a:t>Thank You</a:t>
            </a:r>
            <a:endParaRPr lang="en-IN" sz="7000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7" y="310556"/>
            <a:ext cx="2305893" cy="990644"/>
          </a:xfrm>
          <a:prstGeom prst="rect">
            <a:avLst/>
          </a:prstGeom>
        </p:spPr>
      </p:pic>
      <p:pic>
        <p:nvPicPr>
          <p:cNvPr id="7" name="Picture 2" descr="Coding Club RVCE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217663" y="182181"/>
            <a:ext cx="1611544" cy="133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45" y="182181"/>
            <a:ext cx="1119019" cy="111901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0947002" y="310556"/>
            <a:ext cx="0" cy="92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72"/>
  <p:tag name="TABLE_ENDDRAG_RECT" val="77*127*828*372"/>
</p:tagLst>
</file>

<file path=ppt/tags/tag2.xml><?xml version="1.0" encoding="utf-8"?>
<p:tagLst xmlns:p="http://schemas.openxmlformats.org/presentationml/2006/main">
  <p:tag name="TABLE_ENDDRAG_ORIGIN_RECT" val="828*319"/>
  <p:tag name="TABLE_ENDDRAG_RECT" val="66*143*828*319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2722</Words>
  <Application>WPS Presentation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Berlin Sans FB Demi</vt:lpstr>
      <vt:lpstr>Segoe Print</vt:lpstr>
      <vt:lpstr>Microsoft YaHei</vt:lpstr>
      <vt:lpstr>Arial Unicode MS</vt:lpstr>
      <vt:lpstr>Calibri Light</vt:lpstr>
      <vt:lpstr>Calibri</vt:lpstr>
      <vt:lpstr>等线</vt:lpstr>
      <vt:lpstr>Office Theme</vt:lpstr>
      <vt:lpstr>Team Name: </vt:lpstr>
      <vt:lpstr>Problem Statement</vt:lpstr>
      <vt:lpstr>Proposed Solution</vt:lpstr>
      <vt:lpstr>Key Features</vt:lpstr>
      <vt:lpstr>System Architecture</vt:lpstr>
      <vt:lpstr>Tech Stack</vt:lpstr>
      <vt:lpstr>Challenges Faced</vt:lpstr>
      <vt:lpstr>Future Scope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Raghavendra Prasad B M</dc:creator>
  <cp:lastModifiedBy>Amulya</cp:lastModifiedBy>
  <cp:revision>9</cp:revision>
  <dcterms:created xsi:type="dcterms:W3CDTF">2025-12-01T05:54:00Z</dcterms:created>
  <dcterms:modified xsi:type="dcterms:W3CDTF">2025-12-05T02:33:12Z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A130D186F5DE43FC81341ED22BBAD7D8_12</vt:lpwstr>
  </property>
  <property fmtid="{D5CDD505-2E9C-101B-9397-08002B2CF9AE}" pid="3" name="KSOProductBuildVer">
    <vt:lpwstr>1033-12.2.0.23155</vt:lpwstr>
  </property>
</Properties>
</file>